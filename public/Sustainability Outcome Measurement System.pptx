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5" r:id="rId4"/>
    <p:sldId id="257" r:id="rId5"/>
    <p:sldId id="258" r:id="rId6"/>
    <p:sldId id="260" r:id="rId7"/>
    <p:sldId id="259" r:id="rId8"/>
    <p:sldId id="266" r:id="rId9"/>
    <p:sldId id="261" r:id="rId10"/>
    <p:sldId id="262"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408333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00363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5F8D3-7EE0-4637-B8C0-AD8CC4885337}"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279331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240962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85F8D3-7EE0-4637-B8C0-AD8CC4885337}" type="datetimeFigureOut">
              <a:rPr lang="en-IN" smtClean="0"/>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964722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85F8D3-7EE0-4637-B8C0-AD8CC4885337}"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716577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D85F8D3-7EE0-4637-B8C0-AD8CC4885337}" type="datetimeFigureOut">
              <a:rPr lang="en-IN" smtClean="0"/>
              <a:t>12-02-2026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40629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610092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743708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869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484067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73059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550706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85F8D3-7EE0-4637-B8C0-AD8CC4885337}"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2098393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85F8D3-7EE0-4637-B8C0-AD8CC4885337}"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656597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947569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4038067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D85F8D3-7EE0-4637-B8C0-AD8CC4885337}" type="datetimeFigureOut">
              <a:rPr lang="en-IN" smtClean="0"/>
              <a:t>12-02-2026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F0AD8B1-4A78-4DC5-A2A7-C09717D4A03E}" type="slidenum">
              <a:rPr lang="en-IN" smtClean="0"/>
              <a:t>‹#›</a:t>
            </a:fld>
            <a:endParaRPr lang="en-IN"/>
          </a:p>
        </p:txBody>
      </p:sp>
    </p:spTree>
    <p:extLst>
      <p:ext uri="{BB962C8B-B14F-4D97-AF65-F5344CB8AC3E}">
        <p14:creationId xmlns:p14="http://schemas.microsoft.com/office/powerpoint/2010/main" val="37673033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0507-0251-3E3C-36EC-EE5E13FA159F}"/>
              </a:ext>
            </a:extLst>
          </p:cNvPr>
          <p:cNvSpPr>
            <a:spLocks noGrp="1"/>
          </p:cNvSpPr>
          <p:nvPr>
            <p:ph type="ctrTitle"/>
          </p:nvPr>
        </p:nvSpPr>
        <p:spPr>
          <a:xfrm>
            <a:off x="780422" y="2048387"/>
            <a:ext cx="10631156" cy="2387600"/>
          </a:xfrm>
        </p:spPr>
        <p:txBody>
          <a:bodyPr>
            <a:normAutofit/>
          </a:bodyPr>
          <a:lstStyle/>
          <a:p>
            <a:pPr>
              <a:lnSpc>
                <a:spcPct val="100000"/>
              </a:lnSpc>
            </a:pPr>
            <a:r>
              <a:rPr lang="en-IN" sz="5400" u="sng" dirty="0">
                <a:latin typeface="Century" panose="02040604050505020304" pitchFamily="18" charset="0"/>
                <a:ea typeface="Arial Unicode MS" panose="020B0604020202020204" pitchFamily="34" charset="-128"/>
                <a:cs typeface="Arial Unicode MS" panose="020B0604020202020204" pitchFamily="34" charset="-128"/>
              </a:rPr>
              <a:t>AI-Driven Course Popularity Analyzer</a:t>
            </a:r>
          </a:p>
        </p:txBody>
      </p:sp>
      <p:sp>
        <p:nvSpPr>
          <p:cNvPr id="4" name="TextBox 3">
            <a:extLst>
              <a:ext uri="{FF2B5EF4-FFF2-40B4-BE49-F238E27FC236}">
                <a16:creationId xmlns:a16="http://schemas.microsoft.com/office/drawing/2014/main" id="{378828FF-0EF3-5454-13F3-850BC9BDA30F}"/>
              </a:ext>
            </a:extLst>
          </p:cNvPr>
          <p:cNvSpPr txBox="1"/>
          <p:nvPr/>
        </p:nvSpPr>
        <p:spPr>
          <a:xfrm>
            <a:off x="7844414" y="5523131"/>
            <a:ext cx="3401961" cy="646331"/>
          </a:xfrm>
          <a:prstGeom prst="rect">
            <a:avLst/>
          </a:prstGeom>
          <a:noFill/>
        </p:spPr>
        <p:txBody>
          <a:bodyPr wrap="square" rtlCol="0">
            <a:spAutoFit/>
          </a:bodyPr>
          <a:lstStyle/>
          <a:p>
            <a:r>
              <a:rPr lang="en-IN" b="1" dirty="0"/>
              <a:t>BHARATHEES K</a:t>
            </a:r>
          </a:p>
          <a:p>
            <a:r>
              <a:rPr lang="en-IN" b="1" dirty="0"/>
              <a:t>7376232AG106</a:t>
            </a:r>
          </a:p>
        </p:txBody>
      </p:sp>
    </p:spTree>
    <p:extLst>
      <p:ext uri="{BB962C8B-B14F-4D97-AF65-F5344CB8AC3E}">
        <p14:creationId xmlns:p14="http://schemas.microsoft.com/office/powerpoint/2010/main" val="2423205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791E81-ED16-0927-1C11-26FD910ECD52}"/>
              </a:ext>
            </a:extLst>
          </p:cNvPr>
          <p:cNvSpPr txBox="1"/>
          <p:nvPr/>
        </p:nvSpPr>
        <p:spPr>
          <a:xfrm>
            <a:off x="1032386" y="1160207"/>
            <a:ext cx="9861755" cy="4013086"/>
          </a:xfrm>
          <a:prstGeom prst="rect">
            <a:avLst/>
          </a:prstGeom>
          <a:noFill/>
        </p:spPr>
        <p:txBody>
          <a:bodyPr wrap="square">
            <a:spAutoFit/>
          </a:bodyPr>
          <a:lstStyle/>
          <a:p>
            <a:r>
              <a:rPr lang="en-US" sz="2400" b="1" dirty="0"/>
              <a:t>INTRODUCTION </a:t>
            </a:r>
          </a:p>
          <a:p>
            <a:endParaRPr lang="en-US" sz="2400" b="1" dirty="0"/>
          </a:p>
          <a:p>
            <a:pPr algn="just">
              <a:lnSpc>
                <a:spcPct val="150000"/>
              </a:lnSpc>
            </a:pPr>
            <a:r>
              <a:rPr lang="en-US" sz="2000" dirty="0"/>
              <a:t>In the rapidly evolving landscape of online education, students often struggle to identify which courses offer true value versus those that are simply trending. The </a:t>
            </a:r>
            <a:r>
              <a:rPr lang="en-US" sz="2000" b="1" dirty="0"/>
              <a:t>AI-Driven Course Popularity Analyzer</a:t>
            </a:r>
            <a:r>
              <a:rPr lang="en-US" sz="2000" dirty="0"/>
              <a:t> is designed to bridge this information gap. By leveraging Generative AI and data analytics, this project provides a comprehensive "Intelligence Report" for any given course. Beyond just popularity, the system evaluates technical depth, real-world practical applications, and future career prospects, empowering learners to make data-backed decisions about their professional development.</a:t>
            </a:r>
            <a:endParaRPr lang="en-IN" sz="2000" dirty="0"/>
          </a:p>
        </p:txBody>
      </p:sp>
    </p:spTree>
    <p:extLst>
      <p:ext uri="{BB962C8B-B14F-4D97-AF65-F5344CB8AC3E}">
        <p14:creationId xmlns:p14="http://schemas.microsoft.com/office/powerpoint/2010/main" val="2619616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B5353-2B31-167B-82BD-FD5C17DF82AB}"/>
              </a:ext>
            </a:extLst>
          </p:cNvPr>
          <p:cNvSpPr txBox="1"/>
          <p:nvPr/>
        </p:nvSpPr>
        <p:spPr>
          <a:xfrm>
            <a:off x="1229031" y="897958"/>
            <a:ext cx="9704439" cy="1015663"/>
          </a:xfrm>
          <a:prstGeom prst="rect">
            <a:avLst/>
          </a:prstGeom>
          <a:noFill/>
        </p:spPr>
        <p:txBody>
          <a:bodyPr wrap="square" rtlCol="0">
            <a:spAutoFit/>
          </a:bodyPr>
          <a:lstStyle/>
          <a:p>
            <a:r>
              <a:rPr lang="en-US" sz="2400" b="1" dirty="0"/>
              <a:t>PROBLEM STATEMENT</a:t>
            </a:r>
            <a:br>
              <a:rPr lang="en-US" dirty="0"/>
            </a:br>
            <a:br>
              <a:rPr lang="en-US" dirty="0"/>
            </a:br>
            <a:endParaRPr lang="en-IN" dirty="0"/>
          </a:p>
        </p:txBody>
      </p:sp>
      <p:sp>
        <p:nvSpPr>
          <p:cNvPr id="3" name="TextBox 2">
            <a:extLst>
              <a:ext uri="{FF2B5EF4-FFF2-40B4-BE49-F238E27FC236}">
                <a16:creationId xmlns:a16="http://schemas.microsoft.com/office/drawing/2014/main" id="{E898D0EB-2AC6-154A-A90A-301157DAB41E}"/>
              </a:ext>
            </a:extLst>
          </p:cNvPr>
          <p:cNvSpPr txBox="1"/>
          <p:nvPr/>
        </p:nvSpPr>
        <p:spPr>
          <a:xfrm>
            <a:off x="1258530" y="1303048"/>
            <a:ext cx="9488129" cy="5121082"/>
          </a:xfrm>
          <a:prstGeom prst="rect">
            <a:avLst/>
          </a:prstGeom>
          <a:noFill/>
        </p:spPr>
        <p:txBody>
          <a:bodyPr wrap="square" rtlCol="0">
            <a:spAutoFit/>
          </a:bodyPr>
          <a:lstStyle/>
          <a:p>
            <a:pPr algn="just">
              <a:lnSpc>
                <a:spcPct val="150000"/>
              </a:lnSpc>
            </a:pPr>
            <a:r>
              <a:rPr lang="en-US" sz="2000" dirty="0"/>
              <a:t>In the current digital age, students and professionals face a massive "choice paralysis" due to an overwhelming number of online courses that often lack transparency regarding their actual career value. Most platforms provide superficial ratings but fail to offer deep insights into a course's technical complexity, real-world industry applications, or long-term job market trends, leading many to invest time and money into skills that may be outdated or low-demand. The AI-Driven Course Popularity Analyzer addresses this by serving as a virtual academic advisor, leveraging the Gemini and Hugging Face APIs to transform simple course titles into data-backed intelligence reports. By instantly validating subjects and providing critical insights into salary trends and hiring companies, the platform bridges the gap between raw information and actionable career roadmaps, ensuring that every hour spent learning provides a maximum return on investment.</a:t>
            </a:r>
            <a:endParaRPr lang="en-IN" sz="2000" dirty="0"/>
          </a:p>
        </p:txBody>
      </p:sp>
    </p:spTree>
    <p:extLst>
      <p:ext uri="{BB962C8B-B14F-4D97-AF65-F5344CB8AC3E}">
        <p14:creationId xmlns:p14="http://schemas.microsoft.com/office/powerpoint/2010/main" val="350909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1E5B90-32A3-69E1-CAFB-71F94BFC5A81}"/>
              </a:ext>
            </a:extLst>
          </p:cNvPr>
          <p:cNvSpPr txBox="1"/>
          <p:nvPr/>
        </p:nvSpPr>
        <p:spPr>
          <a:xfrm>
            <a:off x="2034283" y="1613043"/>
            <a:ext cx="6606283" cy="3416320"/>
          </a:xfrm>
          <a:prstGeom prst="rect">
            <a:avLst/>
          </a:prstGeom>
          <a:noFill/>
        </p:spPr>
        <p:txBody>
          <a:bodyPr wrap="square">
            <a:spAutoFit/>
          </a:bodyPr>
          <a:lstStyle/>
          <a:p>
            <a:r>
              <a:rPr lang="en-IN" sz="2400" b="1" dirty="0"/>
              <a:t>TECHNOLOGY STACK</a:t>
            </a:r>
          </a:p>
          <a:p>
            <a:r>
              <a:rPr lang="en-IN" sz="2400" b="1" dirty="0"/>
              <a:t>AI Engines:</a:t>
            </a:r>
          </a:p>
          <a:p>
            <a:r>
              <a:rPr lang="en-IN" sz="2400" b="1" dirty="0"/>
              <a:t>	</a:t>
            </a:r>
            <a:r>
              <a:rPr lang="en-IN" sz="2400" dirty="0"/>
              <a:t>Hugging Face (Inference API)</a:t>
            </a:r>
          </a:p>
          <a:p>
            <a:r>
              <a:rPr lang="en-IN" sz="2400" b="1" dirty="0"/>
              <a:t>Frontend:</a:t>
            </a:r>
            <a:r>
              <a:rPr lang="en-IN" sz="2400" dirty="0"/>
              <a:t> </a:t>
            </a:r>
          </a:p>
          <a:p>
            <a:r>
              <a:rPr lang="en-IN" sz="2400" dirty="0"/>
              <a:t>	React.js &amp; Material UI</a:t>
            </a:r>
          </a:p>
          <a:p>
            <a:r>
              <a:rPr lang="en-IN" sz="2400" b="1" dirty="0"/>
              <a:t>Backend: </a:t>
            </a:r>
          </a:p>
          <a:p>
            <a:r>
              <a:rPr lang="en-IN" sz="2400" b="1" dirty="0"/>
              <a:t>	</a:t>
            </a:r>
            <a:r>
              <a:rPr lang="en-IN" sz="2400" dirty="0"/>
              <a:t>Node.js &amp; Express</a:t>
            </a:r>
          </a:p>
          <a:p>
            <a:r>
              <a:rPr lang="en-IN" sz="2400" b="1" dirty="0"/>
              <a:t>Deployment:</a:t>
            </a:r>
            <a:r>
              <a:rPr lang="en-IN" sz="2400" dirty="0"/>
              <a:t> </a:t>
            </a:r>
          </a:p>
          <a:p>
            <a:r>
              <a:rPr lang="en-IN" sz="2400" dirty="0"/>
              <a:t>	</a:t>
            </a:r>
            <a:r>
              <a:rPr lang="en-IN" sz="2400" dirty="0" err="1"/>
              <a:t>Vercel</a:t>
            </a:r>
            <a:r>
              <a:rPr lang="en-IN" sz="2400" dirty="0"/>
              <a:t> &amp; Render</a:t>
            </a:r>
          </a:p>
        </p:txBody>
      </p:sp>
    </p:spTree>
    <p:extLst>
      <p:ext uri="{BB962C8B-B14F-4D97-AF65-F5344CB8AC3E}">
        <p14:creationId xmlns:p14="http://schemas.microsoft.com/office/powerpoint/2010/main" val="412148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0DE8C6E-E14F-5B51-59E4-56C8948B8686}"/>
              </a:ext>
            </a:extLst>
          </p:cNvPr>
          <p:cNvSpPr txBox="1"/>
          <p:nvPr/>
        </p:nvSpPr>
        <p:spPr>
          <a:xfrm>
            <a:off x="1434957" y="1536174"/>
            <a:ext cx="10185115" cy="3785652"/>
          </a:xfrm>
          <a:prstGeom prst="rect">
            <a:avLst/>
          </a:prstGeom>
          <a:noFill/>
        </p:spPr>
        <p:txBody>
          <a:bodyPr wrap="square" numCol="1">
            <a:spAutoFit/>
          </a:bodyPr>
          <a:lstStyle/>
          <a:p>
            <a:pPr algn="just">
              <a:buNone/>
            </a:pPr>
            <a:r>
              <a:rPr lang="en-US" sz="2400" b="1" dirty="0"/>
              <a:t>DATABASE &amp; SECURITY</a:t>
            </a:r>
          </a:p>
          <a:p>
            <a:pPr algn="just">
              <a:buNone/>
            </a:pPr>
            <a:r>
              <a:rPr lang="en-US" sz="2400" b="1" dirty="0"/>
              <a:t>Storage: </a:t>
            </a:r>
            <a:r>
              <a:rPr lang="en-US" sz="2400" b="1" dirty="0" err="1"/>
              <a:t>mongodb</a:t>
            </a:r>
            <a:r>
              <a:rPr lang="en-US" sz="2400" b="1" dirty="0"/>
              <a:t> atlas</a:t>
            </a:r>
          </a:p>
          <a:p>
            <a:pPr algn="just">
              <a:buFont typeface="Arial" panose="020B0604020202020204" pitchFamily="34" charset="0"/>
              <a:buChar char="•"/>
            </a:pPr>
            <a:r>
              <a:rPr lang="en-US" sz="2400" dirty="0"/>
              <a:t>Flexible data: stores complex AI reports as easy-to-read JSON documents.</a:t>
            </a:r>
          </a:p>
          <a:p>
            <a:pPr algn="just">
              <a:buFont typeface="Arial" panose="020B0604020202020204" pitchFamily="34" charset="0"/>
              <a:buChar char="•"/>
            </a:pPr>
            <a:r>
              <a:rPr lang="en-US" sz="2400" dirty="0"/>
              <a:t>Cloud-based: securely hosted on the cloud for 24/7 access.</a:t>
            </a:r>
          </a:p>
          <a:p>
            <a:pPr algn="just">
              <a:buFont typeface="Arial" panose="020B0604020202020204" pitchFamily="34" charset="0"/>
              <a:buChar char="•"/>
            </a:pPr>
            <a:r>
              <a:rPr lang="en-US" sz="2400" dirty="0"/>
              <a:t>History: keeps track of user profiles and previous course analyses.</a:t>
            </a:r>
          </a:p>
          <a:p>
            <a:pPr algn="just">
              <a:buNone/>
            </a:pPr>
            <a:r>
              <a:rPr lang="en-US" sz="2400" b="1" dirty="0"/>
              <a:t>Protection: security layers</a:t>
            </a:r>
          </a:p>
          <a:p>
            <a:pPr algn="just">
              <a:buFont typeface="Arial" panose="020B0604020202020204" pitchFamily="34" charset="0"/>
              <a:buChar char="•"/>
            </a:pPr>
            <a:r>
              <a:rPr lang="en-US" sz="2400" dirty="0"/>
              <a:t>Safe login: uses google </a:t>
            </a:r>
            <a:r>
              <a:rPr lang="en-US" sz="2400" dirty="0" err="1"/>
              <a:t>oauth</a:t>
            </a:r>
            <a:r>
              <a:rPr lang="en-US" sz="2400" dirty="0"/>
              <a:t> so users don't need to share passwords.</a:t>
            </a:r>
          </a:p>
          <a:p>
            <a:pPr algn="just">
              <a:buFont typeface="Arial" panose="020B0604020202020204" pitchFamily="34" charset="0"/>
              <a:buChar char="•"/>
            </a:pPr>
            <a:r>
              <a:rPr lang="en-US" sz="2400" dirty="0"/>
              <a:t>Digital bouncer (</a:t>
            </a:r>
            <a:r>
              <a:rPr lang="en-US" sz="2400" dirty="0" err="1"/>
              <a:t>cors</a:t>
            </a:r>
            <a:r>
              <a:rPr lang="en-US" sz="2400" dirty="0"/>
              <a:t>): blocks unauthorized websites from accessing the data.</a:t>
            </a:r>
          </a:p>
          <a:p>
            <a:pPr algn="just">
              <a:buFont typeface="Arial" panose="020B0604020202020204" pitchFamily="34" charset="0"/>
              <a:buChar char="•"/>
            </a:pPr>
            <a:r>
              <a:rPr lang="en-US" sz="2400" dirty="0"/>
              <a:t>Session security: uses </a:t>
            </a:r>
            <a:r>
              <a:rPr lang="en-US" sz="2400" dirty="0" err="1"/>
              <a:t>jwt</a:t>
            </a:r>
            <a:r>
              <a:rPr lang="en-US" sz="2400" dirty="0"/>
              <a:t> to verify users are actually logged in.</a:t>
            </a:r>
          </a:p>
          <a:p>
            <a:pPr algn="just">
              <a:buFont typeface="Arial" panose="020B0604020202020204" pitchFamily="34" charset="0"/>
              <a:buChar char="•"/>
            </a:pPr>
            <a:r>
              <a:rPr lang="en-US" sz="2400" dirty="0"/>
              <a:t>Hidden keys: private </a:t>
            </a:r>
            <a:r>
              <a:rPr lang="en-US" sz="2400" dirty="0" err="1"/>
              <a:t>api</a:t>
            </a:r>
            <a:r>
              <a:rPr lang="en-US" sz="2400" dirty="0"/>
              <a:t> keys are hidden in environment variables.</a:t>
            </a:r>
          </a:p>
        </p:txBody>
      </p:sp>
    </p:spTree>
    <p:extLst>
      <p:ext uri="{BB962C8B-B14F-4D97-AF65-F5344CB8AC3E}">
        <p14:creationId xmlns:p14="http://schemas.microsoft.com/office/powerpoint/2010/main" val="27427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ADB080-2AFC-BE4D-B94E-B8C72924A8E2}"/>
              </a:ext>
            </a:extLst>
          </p:cNvPr>
          <p:cNvSpPr txBox="1"/>
          <p:nvPr/>
        </p:nvSpPr>
        <p:spPr>
          <a:xfrm>
            <a:off x="951277" y="824840"/>
            <a:ext cx="9881937" cy="2308324"/>
          </a:xfrm>
          <a:prstGeom prst="rect">
            <a:avLst/>
          </a:prstGeom>
          <a:noFill/>
        </p:spPr>
        <p:txBody>
          <a:bodyPr wrap="square" rtlCol="0">
            <a:spAutoFit/>
          </a:bodyPr>
          <a:lstStyle/>
          <a:p>
            <a:r>
              <a:rPr lang="en-IN" sz="2400" b="1" dirty="0"/>
              <a:t>SYSTEM ARCHITECTURE</a:t>
            </a:r>
          </a:p>
          <a:p>
            <a:endParaRPr lang="en-IN" sz="2400" b="1" dirty="0"/>
          </a:p>
          <a:p>
            <a:pPr algn="just"/>
            <a:r>
              <a:rPr lang="en-IN" sz="2400" b="1" dirty="0"/>
              <a:t>                                          </a:t>
            </a:r>
          </a:p>
          <a:p>
            <a:pPr algn="just"/>
            <a:r>
              <a:rPr lang="en-IN" sz="2400" b="1" dirty="0"/>
              <a:t>                               </a:t>
            </a:r>
          </a:p>
          <a:p>
            <a:pPr algn="just"/>
            <a:endParaRPr lang="en-IN" sz="2400" b="1" dirty="0"/>
          </a:p>
          <a:p>
            <a:pPr algn="just"/>
            <a:endParaRPr lang="en-IN" sz="2400" b="1" dirty="0"/>
          </a:p>
        </p:txBody>
      </p:sp>
      <p:cxnSp>
        <p:nvCxnSpPr>
          <p:cNvPr id="4" name="Straight Arrow Connector 3">
            <a:extLst>
              <a:ext uri="{FF2B5EF4-FFF2-40B4-BE49-F238E27FC236}">
                <a16:creationId xmlns:a16="http://schemas.microsoft.com/office/drawing/2014/main" id="{5760EC59-0954-BD75-87A9-74DF885B2D45}"/>
              </a:ext>
            </a:extLst>
          </p:cNvPr>
          <p:cNvCxnSpPr>
            <a:cxnSpLocks/>
          </p:cNvCxnSpPr>
          <p:nvPr/>
        </p:nvCxnSpPr>
        <p:spPr>
          <a:xfrm>
            <a:off x="5697792" y="1824381"/>
            <a:ext cx="0" cy="4178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DC7D1A45-71AD-88EB-F88A-220D58CEB6B4}"/>
              </a:ext>
            </a:extLst>
          </p:cNvPr>
          <p:cNvCxnSpPr>
            <a:cxnSpLocks/>
          </p:cNvCxnSpPr>
          <p:nvPr/>
        </p:nvCxnSpPr>
        <p:spPr>
          <a:xfrm>
            <a:off x="5697792" y="2632192"/>
            <a:ext cx="0" cy="2810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981B66B0-066B-8BA4-F8DD-99BE0DB74D41}"/>
              </a:ext>
            </a:extLst>
          </p:cNvPr>
          <p:cNvCxnSpPr>
            <a:cxnSpLocks/>
          </p:cNvCxnSpPr>
          <p:nvPr/>
        </p:nvCxnSpPr>
        <p:spPr>
          <a:xfrm>
            <a:off x="5697792" y="4862068"/>
            <a:ext cx="0" cy="2810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7F921F42-9496-946B-DBE3-B6A7B4AB803C}"/>
              </a:ext>
            </a:extLst>
          </p:cNvPr>
          <p:cNvSpPr/>
          <p:nvPr/>
        </p:nvSpPr>
        <p:spPr>
          <a:xfrm>
            <a:off x="4513006" y="1440922"/>
            <a:ext cx="2369572" cy="3834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ctr"/>
            <a:r>
              <a:rPr lang="en-IN" dirty="0"/>
              <a:t>React (Frontend)</a:t>
            </a:r>
          </a:p>
          <a:p>
            <a:pPr algn="ctr"/>
            <a:endParaRPr lang="en-IN" dirty="0"/>
          </a:p>
        </p:txBody>
      </p:sp>
      <p:sp>
        <p:nvSpPr>
          <p:cNvPr id="11" name="Rectangle: Rounded Corners 10">
            <a:extLst>
              <a:ext uri="{FF2B5EF4-FFF2-40B4-BE49-F238E27FC236}">
                <a16:creationId xmlns:a16="http://schemas.microsoft.com/office/drawing/2014/main" id="{742FC42F-D58A-7DE1-F9A5-3245B0E50152}"/>
              </a:ext>
            </a:extLst>
          </p:cNvPr>
          <p:cNvSpPr/>
          <p:nvPr/>
        </p:nvSpPr>
        <p:spPr>
          <a:xfrm>
            <a:off x="4168268" y="2241324"/>
            <a:ext cx="3059047" cy="556112"/>
          </a:xfrm>
          <a:prstGeom prst="roundRect">
            <a:avLst>
              <a:gd name="adj" fmla="val 27752"/>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just"/>
            <a:r>
              <a:rPr lang="en-IN" dirty="0"/>
              <a:t>     </a:t>
            </a:r>
          </a:p>
          <a:p>
            <a:pPr algn="just"/>
            <a:endParaRPr lang="en-IN" dirty="0"/>
          </a:p>
          <a:p>
            <a:pPr algn="ctr"/>
            <a:endParaRPr lang="en-IN" dirty="0"/>
          </a:p>
        </p:txBody>
      </p:sp>
      <p:sp>
        <p:nvSpPr>
          <p:cNvPr id="12" name="Rectangle: Rounded Corners 11">
            <a:extLst>
              <a:ext uri="{FF2B5EF4-FFF2-40B4-BE49-F238E27FC236}">
                <a16:creationId xmlns:a16="http://schemas.microsoft.com/office/drawing/2014/main" id="{9B926F57-B73D-E663-8175-A88A51C65D6B}"/>
              </a:ext>
            </a:extLst>
          </p:cNvPr>
          <p:cNvSpPr/>
          <p:nvPr/>
        </p:nvSpPr>
        <p:spPr>
          <a:xfrm>
            <a:off x="3910968" y="2962680"/>
            <a:ext cx="3573648" cy="18993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CFDFC3A1-207C-665C-72E6-C462F09316C3}"/>
              </a:ext>
            </a:extLst>
          </p:cNvPr>
          <p:cNvSpPr/>
          <p:nvPr/>
        </p:nvSpPr>
        <p:spPr>
          <a:xfrm>
            <a:off x="4513006" y="5192556"/>
            <a:ext cx="2369572" cy="3834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ctr"/>
            <a:r>
              <a:rPr lang="en-IN" dirty="0"/>
              <a:t>MongoDB (Database)</a:t>
            </a:r>
          </a:p>
          <a:p>
            <a:pPr algn="ctr"/>
            <a:endParaRPr lang="en-IN" dirty="0"/>
          </a:p>
        </p:txBody>
      </p:sp>
      <p:sp>
        <p:nvSpPr>
          <p:cNvPr id="6" name="TextBox 5">
            <a:extLst>
              <a:ext uri="{FF2B5EF4-FFF2-40B4-BE49-F238E27FC236}">
                <a16:creationId xmlns:a16="http://schemas.microsoft.com/office/drawing/2014/main" id="{552F90BC-686E-23C1-DCFB-BDDD111C3181}"/>
              </a:ext>
            </a:extLst>
          </p:cNvPr>
          <p:cNvSpPr txBox="1"/>
          <p:nvPr/>
        </p:nvSpPr>
        <p:spPr>
          <a:xfrm>
            <a:off x="4238869" y="2319501"/>
            <a:ext cx="2917844" cy="369332"/>
          </a:xfrm>
          <a:prstGeom prst="rect">
            <a:avLst/>
          </a:prstGeom>
          <a:noFill/>
        </p:spPr>
        <p:txBody>
          <a:bodyPr wrap="square">
            <a:spAutoFit/>
          </a:bodyPr>
          <a:lstStyle/>
          <a:p>
            <a:pPr algn="ctr"/>
            <a:r>
              <a:rPr lang="en-IN" dirty="0"/>
              <a:t>Node.js + Express (Backend)</a:t>
            </a:r>
          </a:p>
        </p:txBody>
      </p:sp>
      <p:sp>
        <p:nvSpPr>
          <p:cNvPr id="9" name="TextBox 8">
            <a:extLst>
              <a:ext uri="{FF2B5EF4-FFF2-40B4-BE49-F238E27FC236}">
                <a16:creationId xmlns:a16="http://schemas.microsoft.com/office/drawing/2014/main" id="{A67B0B85-73A3-B14F-A47E-D1D37B91080B}"/>
              </a:ext>
            </a:extLst>
          </p:cNvPr>
          <p:cNvSpPr txBox="1"/>
          <p:nvPr/>
        </p:nvSpPr>
        <p:spPr>
          <a:xfrm>
            <a:off x="4776969" y="3122645"/>
            <a:ext cx="1882740" cy="369332"/>
          </a:xfrm>
          <a:prstGeom prst="rect">
            <a:avLst/>
          </a:prstGeom>
          <a:noFill/>
        </p:spPr>
        <p:txBody>
          <a:bodyPr wrap="square">
            <a:spAutoFit/>
          </a:bodyPr>
          <a:lstStyle/>
          <a:p>
            <a:r>
              <a:rPr lang="en-IN" dirty="0"/>
              <a:t>Google OAuth 2.0</a:t>
            </a:r>
          </a:p>
        </p:txBody>
      </p:sp>
      <p:sp>
        <p:nvSpPr>
          <p:cNvPr id="14" name="TextBox 13">
            <a:extLst>
              <a:ext uri="{FF2B5EF4-FFF2-40B4-BE49-F238E27FC236}">
                <a16:creationId xmlns:a16="http://schemas.microsoft.com/office/drawing/2014/main" id="{F378E262-2CEE-A7E3-B1DF-367950D8AE7D}"/>
              </a:ext>
            </a:extLst>
          </p:cNvPr>
          <p:cNvSpPr txBox="1"/>
          <p:nvPr/>
        </p:nvSpPr>
        <p:spPr>
          <a:xfrm>
            <a:off x="5316363" y="3676438"/>
            <a:ext cx="762856" cy="369332"/>
          </a:xfrm>
          <a:prstGeom prst="rect">
            <a:avLst/>
          </a:prstGeom>
          <a:noFill/>
        </p:spPr>
        <p:txBody>
          <a:bodyPr wrap="square">
            <a:spAutoFit/>
          </a:bodyPr>
          <a:lstStyle/>
          <a:p>
            <a:r>
              <a:rPr lang="en-IN" dirty="0"/>
              <a:t>CORS</a:t>
            </a:r>
          </a:p>
        </p:txBody>
      </p:sp>
      <p:sp>
        <p:nvSpPr>
          <p:cNvPr id="17" name="TextBox 16">
            <a:extLst>
              <a:ext uri="{FF2B5EF4-FFF2-40B4-BE49-F238E27FC236}">
                <a16:creationId xmlns:a16="http://schemas.microsoft.com/office/drawing/2014/main" id="{711153CB-5D8E-9F03-7C35-BBDEFEF6988B}"/>
              </a:ext>
            </a:extLst>
          </p:cNvPr>
          <p:cNvSpPr txBox="1"/>
          <p:nvPr/>
        </p:nvSpPr>
        <p:spPr>
          <a:xfrm>
            <a:off x="4792381" y="4224315"/>
            <a:ext cx="1810820" cy="369332"/>
          </a:xfrm>
          <a:prstGeom prst="rect">
            <a:avLst/>
          </a:prstGeom>
          <a:noFill/>
        </p:spPr>
        <p:txBody>
          <a:bodyPr wrap="square">
            <a:spAutoFit/>
          </a:bodyPr>
          <a:lstStyle/>
          <a:p>
            <a:r>
              <a:rPr lang="en-IN" dirty="0"/>
              <a:t>Hugging Face API</a:t>
            </a:r>
          </a:p>
        </p:txBody>
      </p:sp>
    </p:spTree>
    <p:extLst>
      <p:ext uri="{BB962C8B-B14F-4D97-AF65-F5344CB8AC3E}">
        <p14:creationId xmlns:p14="http://schemas.microsoft.com/office/powerpoint/2010/main" val="494746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88">
            <a:extLst>
              <a:ext uri="{FF2B5EF4-FFF2-40B4-BE49-F238E27FC236}">
                <a16:creationId xmlns:a16="http://schemas.microsoft.com/office/drawing/2014/main" id="{C727B772-DBDF-676A-7B0D-2645337C9E84}"/>
              </a:ext>
            </a:extLst>
          </p:cNvPr>
          <p:cNvSpPr txBox="1"/>
          <p:nvPr/>
        </p:nvSpPr>
        <p:spPr>
          <a:xfrm>
            <a:off x="1027470" y="602074"/>
            <a:ext cx="10137059" cy="1938992"/>
          </a:xfrm>
          <a:prstGeom prst="rect">
            <a:avLst/>
          </a:prstGeom>
          <a:noFill/>
        </p:spPr>
        <p:txBody>
          <a:bodyPr wrap="square" rtlCol="0">
            <a:spAutoFit/>
          </a:bodyPr>
          <a:lstStyle/>
          <a:p>
            <a:r>
              <a:rPr lang="en-IN" sz="2400" b="1" dirty="0"/>
              <a:t>ER DIAGRAM</a:t>
            </a:r>
          </a:p>
          <a:p>
            <a:endParaRPr lang="en-IN" sz="2400" b="1" dirty="0"/>
          </a:p>
          <a:p>
            <a:endParaRPr lang="en-IN" sz="2400" b="1" dirty="0"/>
          </a:p>
          <a:p>
            <a:endParaRPr lang="en-IN" sz="2400" b="1" dirty="0"/>
          </a:p>
          <a:p>
            <a:endParaRPr lang="en-IN" sz="2400" b="1" dirty="0"/>
          </a:p>
        </p:txBody>
      </p:sp>
      <p:sp>
        <p:nvSpPr>
          <p:cNvPr id="90" name="Rectangle: Rounded Corners 89">
            <a:extLst>
              <a:ext uri="{FF2B5EF4-FFF2-40B4-BE49-F238E27FC236}">
                <a16:creationId xmlns:a16="http://schemas.microsoft.com/office/drawing/2014/main" id="{75736B40-CAA1-4861-1826-F60958E15657}"/>
              </a:ext>
            </a:extLst>
          </p:cNvPr>
          <p:cNvSpPr/>
          <p:nvPr/>
        </p:nvSpPr>
        <p:spPr>
          <a:xfrm>
            <a:off x="904566" y="1539485"/>
            <a:ext cx="2823410" cy="34537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t>USER ENTITY</a:t>
            </a:r>
          </a:p>
          <a:p>
            <a:pPr marL="342900" indent="-342900">
              <a:buFont typeface="Arial" panose="020B0604020202020204" pitchFamily="34" charset="0"/>
              <a:buChar char="•"/>
            </a:pPr>
            <a:r>
              <a:rPr lang="en-IN" dirty="0"/>
              <a:t>_id</a:t>
            </a:r>
          </a:p>
          <a:p>
            <a:pPr marL="342900" indent="-342900">
              <a:buFont typeface="Arial" panose="020B0604020202020204" pitchFamily="34" charset="0"/>
              <a:buChar char="•"/>
            </a:pPr>
            <a:r>
              <a:rPr lang="en-IN" dirty="0"/>
              <a:t>name</a:t>
            </a:r>
          </a:p>
          <a:p>
            <a:pPr marL="342900" indent="-342900">
              <a:buFont typeface="Arial" panose="020B0604020202020204" pitchFamily="34" charset="0"/>
              <a:buChar char="•"/>
            </a:pPr>
            <a:r>
              <a:rPr lang="en-IN" dirty="0"/>
              <a:t>username</a:t>
            </a:r>
          </a:p>
          <a:p>
            <a:pPr marL="342900" indent="-342900">
              <a:buFont typeface="Arial" panose="020B0604020202020204" pitchFamily="34" charset="0"/>
              <a:buChar char="•"/>
            </a:pPr>
            <a:r>
              <a:rPr lang="en-IN" dirty="0"/>
              <a:t>email</a:t>
            </a:r>
          </a:p>
          <a:p>
            <a:pPr marL="342900" indent="-342900">
              <a:buFont typeface="Arial" panose="020B0604020202020204" pitchFamily="34" charset="0"/>
              <a:buChar char="•"/>
            </a:pPr>
            <a:r>
              <a:rPr lang="en-IN" dirty="0" err="1"/>
              <a:t>google_id</a:t>
            </a:r>
            <a:endParaRPr lang="en-IN" dirty="0"/>
          </a:p>
          <a:p>
            <a:pPr marL="342900" indent="-342900">
              <a:buFont typeface="Arial" panose="020B0604020202020204" pitchFamily="34" charset="0"/>
              <a:buChar char="•"/>
            </a:pPr>
            <a:r>
              <a:rPr lang="en-IN" dirty="0" err="1"/>
              <a:t>profile_pic</a:t>
            </a:r>
            <a:endParaRPr lang="en-IN" dirty="0"/>
          </a:p>
          <a:p>
            <a:pPr marL="342900" indent="-342900">
              <a:buFont typeface="Arial" panose="020B0604020202020204" pitchFamily="34" charset="0"/>
              <a:buChar char="•"/>
            </a:pPr>
            <a:r>
              <a:rPr lang="en-IN" dirty="0"/>
              <a:t>password(hashed)</a:t>
            </a:r>
          </a:p>
          <a:p>
            <a:pPr marL="342900" indent="-342900">
              <a:buFont typeface="Arial" panose="020B0604020202020204" pitchFamily="34" charset="0"/>
              <a:buChar char="•"/>
            </a:pPr>
            <a:r>
              <a:rPr lang="en-IN" dirty="0" err="1"/>
              <a:t>createdAt</a:t>
            </a:r>
            <a:endParaRPr lang="en-IN" dirty="0"/>
          </a:p>
          <a:p>
            <a:pPr marL="342900" indent="-342900">
              <a:buFont typeface="Arial" panose="020B0604020202020204" pitchFamily="34" charset="0"/>
              <a:buChar char="•"/>
            </a:pPr>
            <a:r>
              <a:rPr lang="en-IN" dirty="0" err="1"/>
              <a:t>updatedAt</a:t>
            </a:r>
            <a:endParaRPr lang="en-IN" dirty="0"/>
          </a:p>
        </p:txBody>
      </p:sp>
      <p:sp>
        <p:nvSpPr>
          <p:cNvPr id="91" name="Rectangle: Rounded Corners 90">
            <a:extLst>
              <a:ext uri="{FF2B5EF4-FFF2-40B4-BE49-F238E27FC236}">
                <a16:creationId xmlns:a16="http://schemas.microsoft.com/office/drawing/2014/main" id="{93E99B07-A709-56D6-1CA2-BA96A2781226}"/>
              </a:ext>
            </a:extLst>
          </p:cNvPr>
          <p:cNvSpPr/>
          <p:nvPr/>
        </p:nvSpPr>
        <p:spPr>
          <a:xfrm>
            <a:off x="8013844" y="1876963"/>
            <a:ext cx="3273594" cy="271111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t>COURSE_REPORT_ENTITY</a:t>
            </a:r>
          </a:p>
          <a:p>
            <a:pPr marL="342900" indent="-342900">
              <a:buFont typeface="Arial" panose="020B0604020202020204" pitchFamily="34" charset="0"/>
              <a:buChar char="•"/>
            </a:pPr>
            <a:r>
              <a:rPr lang="en-IN" dirty="0"/>
              <a:t>_id</a:t>
            </a:r>
          </a:p>
          <a:p>
            <a:pPr marL="342900" indent="-342900">
              <a:buFont typeface="Arial" panose="020B0604020202020204" pitchFamily="34" charset="0"/>
              <a:buChar char="•"/>
            </a:pPr>
            <a:r>
              <a:rPr lang="en-IN" dirty="0" err="1"/>
              <a:t>user_id</a:t>
            </a:r>
            <a:endParaRPr lang="en-IN" dirty="0"/>
          </a:p>
          <a:p>
            <a:pPr marL="342900" indent="-342900">
              <a:buFont typeface="Arial" panose="020B0604020202020204" pitchFamily="34" charset="0"/>
              <a:buChar char="•"/>
            </a:pPr>
            <a:r>
              <a:rPr lang="en-IN" dirty="0" err="1"/>
              <a:t>coursename</a:t>
            </a:r>
            <a:endParaRPr lang="en-IN" dirty="0"/>
          </a:p>
          <a:p>
            <a:pPr marL="342900" indent="-342900">
              <a:buFont typeface="Arial" panose="020B0604020202020204" pitchFamily="34" charset="0"/>
              <a:buChar char="•"/>
            </a:pPr>
            <a:r>
              <a:rPr lang="en-IN" dirty="0" err="1"/>
              <a:t>analysisbody</a:t>
            </a:r>
            <a:endParaRPr lang="en-IN" dirty="0"/>
          </a:p>
          <a:p>
            <a:pPr marL="342900" indent="-342900">
              <a:buFont typeface="Arial" panose="020B0604020202020204" pitchFamily="34" charset="0"/>
              <a:buChar char="•"/>
            </a:pPr>
            <a:r>
              <a:rPr lang="en-IN" dirty="0"/>
              <a:t>Suggestions</a:t>
            </a:r>
          </a:p>
          <a:p>
            <a:pPr marL="342900" indent="-342900">
              <a:buFont typeface="Arial" panose="020B0604020202020204" pitchFamily="34" charset="0"/>
              <a:buChar char="•"/>
            </a:pPr>
            <a:r>
              <a:rPr lang="en-IN" dirty="0"/>
              <a:t>timestamp</a:t>
            </a:r>
          </a:p>
          <a:p>
            <a:pPr marL="342900" indent="-342900">
              <a:buFont typeface="Arial" panose="020B0604020202020204" pitchFamily="34" charset="0"/>
              <a:buChar char="•"/>
            </a:pPr>
            <a:r>
              <a:rPr lang="en-IN" dirty="0" err="1"/>
              <a:t>createdAt</a:t>
            </a:r>
            <a:endParaRPr lang="en-IN" dirty="0"/>
          </a:p>
        </p:txBody>
      </p:sp>
      <p:sp>
        <p:nvSpPr>
          <p:cNvPr id="93" name="Diamond 92">
            <a:extLst>
              <a:ext uri="{FF2B5EF4-FFF2-40B4-BE49-F238E27FC236}">
                <a16:creationId xmlns:a16="http://schemas.microsoft.com/office/drawing/2014/main" id="{7F77A416-CCA7-ED66-5C54-0B1F03DC2C91}"/>
              </a:ext>
            </a:extLst>
          </p:cNvPr>
          <p:cNvSpPr/>
          <p:nvPr/>
        </p:nvSpPr>
        <p:spPr>
          <a:xfrm>
            <a:off x="4561390" y="2860008"/>
            <a:ext cx="2384842" cy="113105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Generates</a:t>
            </a:r>
          </a:p>
        </p:txBody>
      </p:sp>
      <p:cxnSp>
        <p:nvCxnSpPr>
          <p:cNvPr id="95" name="Straight Connector 94">
            <a:extLst>
              <a:ext uri="{FF2B5EF4-FFF2-40B4-BE49-F238E27FC236}">
                <a16:creationId xmlns:a16="http://schemas.microsoft.com/office/drawing/2014/main" id="{B5C90139-0E9A-1C58-014E-269619E4BF18}"/>
              </a:ext>
            </a:extLst>
          </p:cNvPr>
          <p:cNvCxnSpPr>
            <a:cxnSpLocks/>
          </p:cNvCxnSpPr>
          <p:nvPr/>
        </p:nvCxnSpPr>
        <p:spPr>
          <a:xfrm flipH="1" flipV="1">
            <a:off x="3727976" y="3428999"/>
            <a:ext cx="833414" cy="1"/>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977EEEB6-4391-9FAF-EA88-2D5D506A2832}"/>
              </a:ext>
            </a:extLst>
          </p:cNvPr>
          <p:cNvCxnSpPr>
            <a:cxnSpLocks/>
            <a:stCxn id="93" idx="3"/>
          </p:cNvCxnSpPr>
          <p:nvPr/>
        </p:nvCxnSpPr>
        <p:spPr>
          <a:xfrm>
            <a:off x="6946232" y="3425537"/>
            <a:ext cx="106761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274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2BA7CD-6EF2-D6D4-E6FE-3550692AFB77}"/>
              </a:ext>
            </a:extLst>
          </p:cNvPr>
          <p:cNvSpPr/>
          <p:nvPr/>
        </p:nvSpPr>
        <p:spPr>
          <a:xfrm>
            <a:off x="997975" y="2605547"/>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Login</a:t>
            </a:r>
          </a:p>
        </p:txBody>
      </p:sp>
      <p:sp>
        <p:nvSpPr>
          <p:cNvPr id="3" name="Diamond 2">
            <a:extLst>
              <a:ext uri="{FF2B5EF4-FFF2-40B4-BE49-F238E27FC236}">
                <a16:creationId xmlns:a16="http://schemas.microsoft.com/office/drawing/2014/main" id="{166D3992-199F-7C78-7EE9-043C31410DDC}"/>
              </a:ext>
            </a:extLst>
          </p:cNvPr>
          <p:cNvSpPr/>
          <p:nvPr/>
        </p:nvSpPr>
        <p:spPr>
          <a:xfrm>
            <a:off x="2792363" y="2281083"/>
            <a:ext cx="1415845" cy="1170039"/>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User</a:t>
            </a:r>
          </a:p>
        </p:txBody>
      </p:sp>
      <p:sp>
        <p:nvSpPr>
          <p:cNvPr id="7" name="Rectangle 6">
            <a:extLst>
              <a:ext uri="{FF2B5EF4-FFF2-40B4-BE49-F238E27FC236}">
                <a16:creationId xmlns:a16="http://schemas.microsoft.com/office/drawing/2014/main" id="{90733A91-2E5F-B6B3-0C99-E19409C8C792}"/>
              </a:ext>
            </a:extLst>
          </p:cNvPr>
          <p:cNvSpPr/>
          <p:nvPr/>
        </p:nvSpPr>
        <p:spPr>
          <a:xfrm>
            <a:off x="4232787" y="486678"/>
            <a:ext cx="20500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Generate Analysis</a:t>
            </a:r>
          </a:p>
        </p:txBody>
      </p:sp>
      <p:sp>
        <p:nvSpPr>
          <p:cNvPr id="8" name="Rectangle 7">
            <a:extLst>
              <a:ext uri="{FF2B5EF4-FFF2-40B4-BE49-F238E27FC236}">
                <a16:creationId xmlns:a16="http://schemas.microsoft.com/office/drawing/2014/main" id="{A33E4E54-6FE0-66DC-FC46-8DC9B6CADCF1}"/>
              </a:ext>
            </a:extLst>
          </p:cNvPr>
          <p:cNvSpPr/>
          <p:nvPr/>
        </p:nvSpPr>
        <p:spPr>
          <a:xfrm>
            <a:off x="6754765" y="486678"/>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Dashboard</a:t>
            </a:r>
          </a:p>
        </p:txBody>
      </p:sp>
      <p:sp>
        <p:nvSpPr>
          <p:cNvPr id="10" name="Rectangle 9">
            <a:extLst>
              <a:ext uri="{FF2B5EF4-FFF2-40B4-BE49-F238E27FC236}">
                <a16:creationId xmlns:a16="http://schemas.microsoft.com/office/drawing/2014/main" id="{59535D80-FA01-9CA0-CEDC-0DB3F7A65F29}"/>
              </a:ext>
            </a:extLst>
          </p:cNvPr>
          <p:cNvSpPr/>
          <p:nvPr/>
        </p:nvSpPr>
        <p:spPr>
          <a:xfrm>
            <a:off x="997974" y="4868206"/>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Dashboard</a:t>
            </a:r>
          </a:p>
        </p:txBody>
      </p:sp>
      <p:sp>
        <p:nvSpPr>
          <p:cNvPr id="12" name="Rectangle 11">
            <a:extLst>
              <a:ext uri="{FF2B5EF4-FFF2-40B4-BE49-F238E27FC236}">
                <a16:creationId xmlns:a16="http://schemas.microsoft.com/office/drawing/2014/main" id="{3390ACD7-3FC5-41F5-CC26-C882E6A2E7E1}"/>
              </a:ext>
            </a:extLst>
          </p:cNvPr>
          <p:cNvSpPr/>
          <p:nvPr/>
        </p:nvSpPr>
        <p:spPr>
          <a:xfrm>
            <a:off x="1779638" y="5850212"/>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Profile</a:t>
            </a:r>
          </a:p>
        </p:txBody>
      </p:sp>
      <p:sp>
        <p:nvSpPr>
          <p:cNvPr id="14" name="Rectangle 13">
            <a:extLst>
              <a:ext uri="{FF2B5EF4-FFF2-40B4-BE49-F238E27FC236}">
                <a16:creationId xmlns:a16="http://schemas.microsoft.com/office/drawing/2014/main" id="{58F593E2-D9BA-7083-BD65-81F3ECC5B878}"/>
              </a:ext>
            </a:extLst>
          </p:cNvPr>
          <p:cNvSpPr/>
          <p:nvPr/>
        </p:nvSpPr>
        <p:spPr>
          <a:xfrm>
            <a:off x="3689551" y="5850212"/>
            <a:ext cx="1811602"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History </a:t>
            </a:r>
            <a:r>
              <a:rPr lang="en-IN" dirty="0" err="1"/>
              <a:t>Acytivity</a:t>
            </a:r>
            <a:endParaRPr lang="en-IN" dirty="0"/>
          </a:p>
        </p:txBody>
      </p:sp>
      <p:sp>
        <p:nvSpPr>
          <p:cNvPr id="16" name="Rectangle 15">
            <a:extLst>
              <a:ext uri="{FF2B5EF4-FFF2-40B4-BE49-F238E27FC236}">
                <a16:creationId xmlns:a16="http://schemas.microsoft.com/office/drawing/2014/main" id="{6775561A-4593-6458-ED99-8EF0E3AAD281}"/>
              </a:ext>
            </a:extLst>
          </p:cNvPr>
          <p:cNvSpPr/>
          <p:nvPr/>
        </p:nvSpPr>
        <p:spPr>
          <a:xfrm>
            <a:off x="4471215" y="4868206"/>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Admin Pannel</a:t>
            </a:r>
          </a:p>
        </p:txBody>
      </p:sp>
      <p:sp>
        <p:nvSpPr>
          <p:cNvPr id="19" name="Oval 18">
            <a:extLst>
              <a:ext uri="{FF2B5EF4-FFF2-40B4-BE49-F238E27FC236}">
                <a16:creationId xmlns:a16="http://schemas.microsoft.com/office/drawing/2014/main" id="{2D736143-566C-4675-B779-0774C855F610}"/>
              </a:ext>
            </a:extLst>
          </p:cNvPr>
          <p:cNvSpPr/>
          <p:nvPr/>
        </p:nvSpPr>
        <p:spPr>
          <a:xfrm>
            <a:off x="2848892" y="1241290"/>
            <a:ext cx="1302777" cy="7054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Student</a:t>
            </a:r>
          </a:p>
        </p:txBody>
      </p:sp>
      <p:sp>
        <p:nvSpPr>
          <p:cNvPr id="20" name="Oval 19">
            <a:extLst>
              <a:ext uri="{FF2B5EF4-FFF2-40B4-BE49-F238E27FC236}">
                <a16:creationId xmlns:a16="http://schemas.microsoft.com/office/drawing/2014/main" id="{FC188862-226A-7EB1-B8BD-61F5910D9AD6}"/>
              </a:ext>
            </a:extLst>
          </p:cNvPr>
          <p:cNvSpPr/>
          <p:nvPr/>
        </p:nvSpPr>
        <p:spPr>
          <a:xfrm>
            <a:off x="2848891" y="3991175"/>
            <a:ext cx="1302777" cy="78630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Admin</a:t>
            </a:r>
          </a:p>
        </p:txBody>
      </p:sp>
      <p:cxnSp>
        <p:nvCxnSpPr>
          <p:cNvPr id="22" name="Connector: Elbow 21">
            <a:extLst>
              <a:ext uri="{FF2B5EF4-FFF2-40B4-BE49-F238E27FC236}">
                <a16:creationId xmlns:a16="http://schemas.microsoft.com/office/drawing/2014/main" id="{B6C7B15D-7006-98AF-0C30-91C9AB27FD0B}"/>
              </a:ext>
            </a:extLst>
          </p:cNvPr>
          <p:cNvCxnSpPr>
            <a:cxnSpLocks/>
            <a:stCxn id="8" idx="2"/>
            <a:endCxn id="19" idx="6"/>
          </p:cNvCxnSpPr>
          <p:nvPr/>
        </p:nvCxnSpPr>
        <p:spPr>
          <a:xfrm rot="5400000">
            <a:off x="5550932" y="-391474"/>
            <a:ext cx="586236" cy="3384761"/>
          </a:xfrm>
          <a:prstGeom prst="bentConnector2">
            <a:avLst/>
          </a:prstGeom>
        </p:spPr>
        <p:style>
          <a:lnRef idx="1">
            <a:schemeClr val="dk1"/>
          </a:lnRef>
          <a:fillRef idx="0">
            <a:schemeClr val="dk1"/>
          </a:fillRef>
          <a:effectRef idx="0">
            <a:schemeClr val="dk1"/>
          </a:effectRef>
          <a:fontRef idx="minor">
            <a:schemeClr val="tx1"/>
          </a:fontRef>
        </p:style>
      </p:cxnSp>
      <p:cxnSp>
        <p:nvCxnSpPr>
          <p:cNvPr id="24" name="Connector: Elbow 23">
            <a:extLst>
              <a:ext uri="{FF2B5EF4-FFF2-40B4-BE49-F238E27FC236}">
                <a16:creationId xmlns:a16="http://schemas.microsoft.com/office/drawing/2014/main" id="{43031E3B-E205-4728-AA1E-C05CF5350DD5}"/>
              </a:ext>
            </a:extLst>
          </p:cNvPr>
          <p:cNvCxnSpPr>
            <a:cxnSpLocks/>
            <a:stCxn id="7" idx="2"/>
            <a:endCxn id="19" idx="6"/>
          </p:cNvCxnSpPr>
          <p:nvPr/>
        </p:nvCxnSpPr>
        <p:spPr>
          <a:xfrm rot="5400000">
            <a:off x="4411618" y="747840"/>
            <a:ext cx="586236" cy="1106133"/>
          </a:xfrm>
          <a:prstGeom prst="bentConnector2">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55CE09C1-C21B-7A0A-FA9F-38E35024603D}"/>
              </a:ext>
            </a:extLst>
          </p:cNvPr>
          <p:cNvCxnSpPr>
            <a:stCxn id="3" idx="0"/>
            <a:endCxn id="19" idx="4"/>
          </p:cNvCxnSpPr>
          <p:nvPr/>
        </p:nvCxnSpPr>
        <p:spPr>
          <a:xfrm flipH="1" flipV="1">
            <a:off x="3500281" y="1946757"/>
            <a:ext cx="5" cy="334326"/>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6270E378-F8EC-8AFD-3A86-AFCAC8F6D13D}"/>
              </a:ext>
            </a:extLst>
          </p:cNvPr>
          <p:cNvCxnSpPr>
            <a:stCxn id="3" idx="1"/>
            <a:endCxn id="2" idx="3"/>
          </p:cNvCxnSpPr>
          <p:nvPr/>
        </p:nvCxnSpPr>
        <p:spPr>
          <a:xfrm flipH="1" flipV="1">
            <a:off x="2561304" y="2866102"/>
            <a:ext cx="231059" cy="1"/>
          </a:xfrm>
          <a:prstGeom prst="line">
            <a:avLst/>
          </a:prstGeom>
        </p:spPr>
        <p:style>
          <a:lnRef idx="1">
            <a:schemeClr val="dk1"/>
          </a:lnRef>
          <a:fillRef idx="0">
            <a:schemeClr val="dk1"/>
          </a:fillRef>
          <a:effectRef idx="0">
            <a:schemeClr val="dk1"/>
          </a:effectRef>
          <a:fontRef idx="minor">
            <a:schemeClr val="tx1"/>
          </a:fontRef>
        </p:style>
      </p:cxnSp>
      <p:cxnSp>
        <p:nvCxnSpPr>
          <p:cNvPr id="35" name="Connector: Elbow 34">
            <a:extLst>
              <a:ext uri="{FF2B5EF4-FFF2-40B4-BE49-F238E27FC236}">
                <a16:creationId xmlns:a16="http://schemas.microsoft.com/office/drawing/2014/main" id="{9ACB7B9A-E0CD-C41D-8760-108AF8C5263B}"/>
              </a:ext>
            </a:extLst>
          </p:cNvPr>
          <p:cNvCxnSpPr>
            <a:cxnSpLocks/>
          </p:cNvCxnSpPr>
          <p:nvPr/>
        </p:nvCxnSpPr>
        <p:spPr>
          <a:xfrm flipV="1">
            <a:off x="5766613" y="2605545"/>
            <a:ext cx="3094708" cy="260555"/>
          </a:xfrm>
          <a:prstGeom prst="bentConnector2">
            <a:avLst/>
          </a:prstGeom>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C8161F6C-CB7A-B8B4-65FA-C74D0985DF0A}"/>
              </a:ext>
            </a:extLst>
          </p:cNvPr>
          <p:cNvCxnSpPr>
            <a:cxnSpLocks/>
          </p:cNvCxnSpPr>
          <p:nvPr/>
        </p:nvCxnSpPr>
        <p:spPr>
          <a:xfrm rot="5400000">
            <a:off x="6413567" y="3569502"/>
            <a:ext cx="260555" cy="1246237"/>
          </a:xfrm>
          <a:prstGeom prst="bentConnector2">
            <a:avLst/>
          </a:prstGeom>
        </p:spPr>
        <p:style>
          <a:lnRef idx="1">
            <a:schemeClr val="dk1"/>
          </a:lnRef>
          <a:fillRef idx="0">
            <a:schemeClr val="dk1"/>
          </a:fillRef>
          <a:effectRef idx="0">
            <a:schemeClr val="dk1"/>
          </a:effectRef>
          <a:fontRef idx="minor">
            <a:schemeClr val="tx1"/>
          </a:fontRef>
        </p:style>
      </p:cxnSp>
      <p:cxnSp>
        <p:nvCxnSpPr>
          <p:cNvPr id="41" name="Connector: Elbow 40">
            <a:extLst>
              <a:ext uri="{FF2B5EF4-FFF2-40B4-BE49-F238E27FC236}">
                <a16:creationId xmlns:a16="http://schemas.microsoft.com/office/drawing/2014/main" id="{BEEC398B-F913-98AB-FA73-E65DF7C5672F}"/>
              </a:ext>
            </a:extLst>
          </p:cNvPr>
          <p:cNvCxnSpPr>
            <a:cxnSpLocks/>
            <a:stCxn id="36" idx="0"/>
          </p:cNvCxnSpPr>
          <p:nvPr/>
        </p:nvCxnSpPr>
        <p:spPr>
          <a:xfrm rot="16200000" flipV="1">
            <a:off x="4636320" y="1202783"/>
            <a:ext cx="473593" cy="1256073"/>
          </a:xfrm>
          <a:prstGeom prst="bentConnector2">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F309403-EA3D-F943-4283-579470001DA8}"/>
              </a:ext>
            </a:extLst>
          </p:cNvPr>
          <p:cNvCxnSpPr>
            <a:cxnSpLocks/>
            <a:stCxn id="20" idx="0"/>
            <a:endCxn id="3" idx="2"/>
          </p:cNvCxnSpPr>
          <p:nvPr/>
        </p:nvCxnSpPr>
        <p:spPr>
          <a:xfrm flipV="1">
            <a:off x="3500280" y="3451122"/>
            <a:ext cx="6" cy="540053"/>
          </a:xfrm>
          <a:prstGeom prst="line">
            <a:avLst/>
          </a:prstGeom>
        </p:spPr>
        <p:style>
          <a:lnRef idx="1">
            <a:schemeClr val="dk1"/>
          </a:lnRef>
          <a:fillRef idx="0">
            <a:schemeClr val="dk1"/>
          </a:fillRef>
          <a:effectRef idx="0">
            <a:schemeClr val="dk1"/>
          </a:effectRef>
          <a:fontRef idx="minor">
            <a:schemeClr val="tx1"/>
          </a:fontRef>
        </p:style>
      </p:cxnSp>
      <p:cxnSp>
        <p:nvCxnSpPr>
          <p:cNvPr id="48" name="Connector: Elbow 47">
            <a:extLst>
              <a:ext uri="{FF2B5EF4-FFF2-40B4-BE49-F238E27FC236}">
                <a16:creationId xmlns:a16="http://schemas.microsoft.com/office/drawing/2014/main" id="{CE9EA7B0-B102-07E7-4FC5-0A24927854B6}"/>
              </a:ext>
            </a:extLst>
          </p:cNvPr>
          <p:cNvCxnSpPr>
            <a:cxnSpLocks/>
            <a:stCxn id="10" idx="3"/>
            <a:endCxn id="20" idx="4"/>
          </p:cNvCxnSpPr>
          <p:nvPr/>
        </p:nvCxnSpPr>
        <p:spPr>
          <a:xfrm flipV="1">
            <a:off x="2561303" y="4777483"/>
            <a:ext cx="938977" cy="351278"/>
          </a:xfrm>
          <a:prstGeom prst="bentConnector2">
            <a:avLst/>
          </a:prstGeom>
        </p:spPr>
        <p:style>
          <a:lnRef idx="1">
            <a:schemeClr val="dk1"/>
          </a:lnRef>
          <a:fillRef idx="0">
            <a:schemeClr val="dk1"/>
          </a:fillRef>
          <a:effectRef idx="0">
            <a:schemeClr val="dk1"/>
          </a:effectRef>
          <a:fontRef idx="minor">
            <a:schemeClr val="tx1"/>
          </a:fontRef>
        </p:style>
      </p:cxnSp>
      <p:cxnSp>
        <p:nvCxnSpPr>
          <p:cNvPr id="50" name="Connector: Elbow 49">
            <a:extLst>
              <a:ext uri="{FF2B5EF4-FFF2-40B4-BE49-F238E27FC236}">
                <a16:creationId xmlns:a16="http://schemas.microsoft.com/office/drawing/2014/main" id="{EFFEA75B-A68B-B598-B77D-8BA2434E59A7}"/>
              </a:ext>
            </a:extLst>
          </p:cNvPr>
          <p:cNvCxnSpPr>
            <a:cxnSpLocks/>
            <a:stCxn id="16" idx="1"/>
            <a:endCxn id="20" idx="4"/>
          </p:cNvCxnSpPr>
          <p:nvPr/>
        </p:nvCxnSpPr>
        <p:spPr>
          <a:xfrm rot="10800000">
            <a:off x="3500281" y="4777483"/>
            <a:ext cx="970935" cy="351278"/>
          </a:xfrm>
          <a:prstGeom prst="bentConnector2">
            <a:avLst/>
          </a:prstGeom>
        </p:spPr>
        <p:style>
          <a:lnRef idx="1">
            <a:schemeClr val="dk1"/>
          </a:lnRef>
          <a:fillRef idx="0">
            <a:schemeClr val="dk1"/>
          </a:fillRef>
          <a:effectRef idx="0">
            <a:schemeClr val="dk1"/>
          </a:effectRef>
          <a:fontRef idx="minor">
            <a:schemeClr val="tx1"/>
          </a:fontRef>
        </p:style>
      </p:cxnSp>
      <p:cxnSp>
        <p:nvCxnSpPr>
          <p:cNvPr id="52" name="Connector: Elbow 51">
            <a:extLst>
              <a:ext uri="{FF2B5EF4-FFF2-40B4-BE49-F238E27FC236}">
                <a16:creationId xmlns:a16="http://schemas.microsoft.com/office/drawing/2014/main" id="{FA5F8968-F725-DF3A-207F-E2E76A0CA35D}"/>
              </a:ext>
            </a:extLst>
          </p:cNvPr>
          <p:cNvCxnSpPr>
            <a:cxnSpLocks/>
            <a:stCxn id="12" idx="3"/>
            <a:endCxn id="20" idx="4"/>
          </p:cNvCxnSpPr>
          <p:nvPr/>
        </p:nvCxnSpPr>
        <p:spPr>
          <a:xfrm flipV="1">
            <a:off x="3342967" y="4777483"/>
            <a:ext cx="157313" cy="1333284"/>
          </a:xfrm>
          <a:prstGeom prst="bentConnector2">
            <a:avLst/>
          </a:prstGeom>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E25CC363-2281-9BB9-D687-DE5C69FF21CF}"/>
              </a:ext>
            </a:extLst>
          </p:cNvPr>
          <p:cNvCxnSpPr>
            <a:cxnSpLocks/>
            <a:stCxn id="14" idx="1"/>
            <a:endCxn id="20" idx="4"/>
          </p:cNvCxnSpPr>
          <p:nvPr/>
        </p:nvCxnSpPr>
        <p:spPr>
          <a:xfrm rot="10800000">
            <a:off x="3500281" y="4777483"/>
            <a:ext cx="189271" cy="1333284"/>
          </a:xfrm>
          <a:prstGeom prst="bentConnector2">
            <a:avLst/>
          </a:prstGeom>
        </p:spPr>
        <p:style>
          <a:lnRef idx="1">
            <a:schemeClr val="dk1"/>
          </a:lnRef>
          <a:fillRef idx="0">
            <a:schemeClr val="dk1"/>
          </a:fillRef>
          <a:effectRef idx="0">
            <a:schemeClr val="dk1"/>
          </a:effectRef>
          <a:fontRef idx="minor">
            <a:schemeClr val="tx1"/>
          </a:fontRef>
        </p:style>
      </p:cxnSp>
      <p:cxnSp>
        <p:nvCxnSpPr>
          <p:cNvPr id="72" name="Connector: Elbow 71">
            <a:extLst>
              <a:ext uri="{FF2B5EF4-FFF2-40B4-BE49-F238E27FC236}">
                <a16:creationId xmlns:a16="http://schemas.microsoft.com/office/drawing/2014/main" id="{49C456CC-8B20-EA27-951C-F30DA91DB3DA}"/>
              </a:ext>
            </a:extLst>
          </p:cNvPr>
          <p:cNvCxnSpPr>
            <a:cxnSpLocks/>
          </p:cNvCxnSpPr>
          <p:nvPr/>
        </p:nvCxnSpPr>
        <p:spPr>
          <a:xfrm rot="10800000">
            <a:off x="5501151" y="3524413"/>
            <a:ext cx="4050878" cy="12700"/>
          </a:xfrm>
          <a:prstGeom prst="bentConnector3">
            <a:avLst/>
          </a:prstGeom>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4D7C24BA-B3D4-F1B7-7192-12EBBD9C8958}"/>
              </a:ext>
            </a:extLst>
          </p:cNvPr>
          <p:cNvSpPr txBox="1"/>
          <p:nvPr/>
        </p:nvSpPr>
        <p:spPr>
          <a:xfrm>
            <a:off x="857859" y="805955"/>
            <a:ext cx="2762865" cy="461665"/>
          </a:xfrm>
          <a:prstGeom prst="rect">
            <a:avLst/>
          </a:prstGeom>
          <a:noFill/>
        </p:spPr>
        <p:txBody>
          <a:bodyPr wrap="square" rtlCol="0">
            <a:spAutoFit/>
          </a:bodyPr>
          <a:lstStyle/>
          <a:p>
            <a:r>
              <a:rPr lang="en-IN" sz="2400" b="1" dirty="0"/>
              <a:t>WORK FLOW</a:t>
            </a:r>
          </a:p>
        </p:txBody>
      </p:sp>
      <p:sp>
        <p:nvSpPr>
          <p:cNvPr id="4" name="Rectangle 3">
            <a:extLst>
              <a:ext uri="{FF2B5EF4-FFF2-40B4-BE49-F238E27FC236}">
                <a16:creationId xmlns:a16="http://schemas.microsoft.com/office/drawing/2014/main" id="{BECA075C-7795-5DF4-E660-B66990697B21}"/>
              </a:ext>
            </a:extLst>
          </p:cNvPr>
          <p:cNvSpPr/>
          <p:nvPr/>
        </p:nvSpPr>
        <p:spPr>
          <a:xfrm>
            <a:off x="8790043" y="486678"/>
            <a:ext cx="1563329" cy="5211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Profile </a:t>
            </a:r>
          </a:p>
        </p:txBody>
      </p:sp>
      <p:cxnSp>
        <p:nvCxnSpPr>
          <p:cNvPr id="30" name="Connector: Elbow 29">
            <a:extLst>
              <a:ext uri="{FF2B5EF4-FFF2-40B4-BE49-F238E27FC236}">
                <a16:creationId xmlns:a16="http://schemas.microsoft.com/office/drawing/2014/main" id="{58547232-030D-59FF-A091-A6665A37D4A3}"/>
              </a:ext>
            </a:extLst>
          </p:cNvPr>
          <p:cNvCxnSpPr/>
          <p:nvPr/>
        </p:nvCxnSpPr>
        <p:spPr>
          <a:xfrm rot="5400000">
            <a:off x="7541965" y="-391476"/>
            <a:ext cx="586236" cy="3384761"/>
          </a:xfrm>
          <a:prstGeom prst="bentConnector2">
            <a:avLst/>
          </a:prstGeom>
        </p:spPr>
        <p:style>
          <a:lnRef idx="1">
            <a:schemeClr val="dk1"/>
          </a:lnRef>
          <a:fillRef idx="0">
            <a:schemeClr val="dk1"/>
          </a:fillRef>
          <a:effectRef idx="0">
            <a:schemeClr val="dk1"/>
          </a:effectRef>
          <a:fontRef idx="minor">
            <a:schemeClr val="tx1"/>
          </a:fontRef>
        </p:style>
      </p:cxnSp>
      <p:sp>
        <p:nvSpPr>
          <p:cNvPr id="36" name="Rectangle 35">
            <a:extLst>
              <a:ext uri="{FF2B5EF4-FFF2-40B4-BE49-F238E27FC236}">
                <a16:creationId xmlns:a16="http://schemas.microsoft.com/office/drawing/2014/main" id="{C8283BC6-D206-5A64-AE5A-B8829EA8B128}"/>
              </a:ext>
            </a:extLst>
          </p:cNvPr>
          <p:cNvSpPr/>
          <p:nvPr/>
        </p:nvSpPr>
        <p:spPr>
          <a:xfrm>
            <a:off x="4719487" y="2067616"/>
            <a:ext cx="1563329" cy="5211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History Activity </a:t>
            </a:r>
          </a:p>
        </p:txBody>
      </p:sp>
      <p:cxnSp>
        <p:nvCxnSpPr>
          <p:cNvPr id="59" name="Connector: Elbow 58">
            <a:extLst>
              <a:ext uri="{FF2B5EF4-FFF2-40B4-BE49-F238E27FC236}">
                <a16:creationId xmlns:a16="http://schemas.microsoft.com/office/drawing/2014/main" id="{7713E3E4-18C0-66B2-DE11-5CB2A61F139B}"/>
              </a:ext>
            </a:extLst>
          </p:cNvPr>
          <p:cNvCxnSpPr>
            <a:cxnSpLocks/>
          </p:cNvCxnSpPr>
          <p:nvPr/>
        </p:nvCxnSpPr>
        <p:spPr>
          <a:xfrm rot="16200000" flipV="1">
            <a:off x="6776796" y="1205209"/>
            <a:ext cx="473593" cy="1256073"/>
          </a:xfrm>
          <a:prstGeom prst="bentConnector2">
            <a:avLst/>
          </a:prstGeom>
        </p:spPr>
        <p:style>
          <a:lnRef idx="1">
            <a:schemeClr val="dk1"/>
          </a:lnRef>
          <a:fillRef idx="0">
            <a:schemeClr val="dk1"/>
          </a:fillRef>
          <a:effectRef idx="0">
            <a:schemeClr val="dk1"/>
          </a:effectRef>
          <a:fontRef idx="minor">
            <a:schemeClr val="tx1"/>
          </a:fontRef>
        </p:style>
      </p:cxnSp>
      <p:sp>
        <p:nvSpPr>
          <p:cNvPr id="60" name="Rectangle 59">
            <a:extLst>
              <a:ext uri="{FF2B5EF4-FFF2-40B4-BE49-F238E27FC236}">
                <a16:creationId xmlns:a16="http://schemas.microsoft.com/office/drawing/2014/main" id="{AB0D3EFF-16F3-9343-052C-D34D22B65647}"/>
              </a:ext>
            </a:extLst>
          </p:cNvPr>
          <p:cNvSpPr/>
          <p:nvPr/>
        </p:nvSpPr>
        <p:spPr>
          <a:xfrm>
            <a:off x="6794095" y="2086862"/>
            <a:ext cx="1754004" cy="5211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Course Analysis </a:t>
            </a:r>
          </a:p>
        </p:txBody>
      </p:sp>
      <p:sp>
        <p:nvSpPr>
          <p:cNvPr id="61" name="Rectangle 60">
            <a:extLst>
              <a:ext uri="{FF2B5EF4-FFF2-40B4-BE49-F238E27FC236}">
                <a16:creationId xmlns:a16="http://schemas.microsoft.com/office/drawing/2014/main" id="{4EEA5719-423E-7293-730B-FD2BD1066357}"/>
              </a:ext>
            </a:extLst>
          </p:cNvPr>
          <p:cNvSpPr/>
          <p:nvPr/>
        </p:nvSpPr>
        <p:spPr>
          <a:xfrm>
            <a:off x="9059378" y="2086862"/>
            <a:ext cx="2074608" cy="5211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Course Suggestions </a:t>
            </a:r>
          </a:p>
        </p:txBody>
      </p:sp>
    </p:spTree>
    <p:extLst>
      <p:ext uri="{BB962C8B-B14F-4D97-AF65-F5344CB8AC3E}">
        <p14:creationId xmlns:p14="http://schemas.microsoft.com/office/powerpoint/2010/main" val="643819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C137-15BC-D70B-BEC3-45CC51CD471C}"/>
              </a:ext>
            </a:extLst>
          </p:cNvPr>
          <p:cNvSpPr>
            <a:spLocks noGrp="1"/>
          </p:cNvSpPr>
          <p:nvPr>
            <p:ph type="title"/>
          </p:nvPr>
        </p:nvSpPr>
        <p:spPr>
          <a:xfrm>
            <a:off x="913774" y="205562"/>
            <a:ext cx="10364451" cy="1596177"/>
          </a:xfrm>
        </p:spPr>
        <p:txBody>
          <a:bodyPr>
            <a:normAutofit/>
          </a:bodyPr>
          <a:lstStyle/>
          <a:p>
            <a:pPr algn="l"/>
            <a:r>
              <a:rPr lang="en-IN" sz="2400" b="1" dirty="0"/>
              <a:t>UI/UX Frame </a:t>
            </a:r>
            <a:r>
              <a:rPr lang="en-IN" sz="2400" b="1" dirty="0" err="1"/>
              <a:t>WORk</a:t>
            </a:r>
            <a:endParaRPr lang="en-IN" sz="2400" b="1" dirty="0"/>
          </a:p>
        </p:txBody>
      </p:sp>
      <p:pic>
        <p:nvPicPr>
          <p:cNvPr id="4" name="Picture 3">
            <a:extLst>
              <a:ext uri="{FF2B5EF4-FFF2-40B4-BE49-F238E27FC236}">
                <a16:creationId xmlns:a16="http://schemas.microsoft.com/office/drawing/2014/main" id="{6E171FFD-D97C-C244-9204-FF82063F0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356" y="1324081"/>
            <a:ext cx="4677913" cy="4720003"/>
          </a:xfrm>
          <a:prstGeom prst="rect">
            <a:avLst/>
          </a:prstGeom>
        </p:spPr>
      </p:pic>
      <p:pic>
        <p:nvPicPr>
          <p:cNvPr id="6" name="Picture 5">
            <a:extLst>
              <a:ext uri="{FF2B5EF4-FFF2-40B4-BE49-F238E27FC236}">
                <a16:creationId xmlns:a16="http://schemas.microsoft.com/office/drawing/2014/main" id="{0C1258C2-616D-B24F-4578-562EED5BB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6824" y="1324081"/>
            <a:ext cx="7363819" cy="4720003"/>
          </a:xfrm>
          <a:prstGeom prst="rect">
            <a:avLst/>
          </a:prstGeom>
        </p:spPr>
      </p:pic>
    </p:spTree>
    <p:extLst>
      <p:ext uri="{BB962C8B-B14F-4D97-AF65-F5344CB8AC3E}">
        <p14:creationId xmlns:p14="http://schemas.microsoft.com/office/powerpoint/2010/main" val="2903238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 name="Rectangle 12">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2726EE3-2827-44AA-9007-5348E1231AF6}"/>
              </a:ext>
            </a:extLst>
          </p:cNvPr>
          <p:cNvSpPr>
            <a:spLocks noGrp="1"/>
          </p:cNvSpPr>
          <p:nvPr>
            <p:ph type="title"/>
          </p:nvPr>
        </p:nvSpPr>
        <p:spPr>
          <a:xfrm>
            <a:off x="-234891" y="299151"/>
            <a:ext cx="3616733" cy="872709"/>
          </a:xfrm>
        </p:spPr>
        <p:txBody>
          <a:bodyPr vert="horz" lIns="91440" tIns="45720" rIns="91440" bIns="45720" rtlCol="0" anchor="b">
            <a:normAutofit/>
          </a:bodyPr>
          <a:lstStyle/>
          <a:p>
            <a:r>
              <a:rPr lang="en-US" sz="2800" b="1" dirty="0"/>
              <a:t>GITHUB</a:t>
            </a:r>
          </a:p>
        </p:txBody>
      </p:sp>
      <p:pic>
        <p:nvPicPr>
          <p:cNvPr id="15" name="Picture 14">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17" name="Picture 16">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4" name="Picture 3">
            <a:extLst>
              <a:ext uri="{FF2B5EF4-FFF2-40B4-BE49-F238E27FC236}">
                <a16:creationId xmlns:a16="http://schemas.microsoft.com/office/drawing/2014/main" id="{06BAEDF6-2D42-924C-B39B-57102E827E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8222" y="1357474"/>
            <a:ext cx="9947237" cy="4853809"/>
          </a:xfrm>
          <a:prstGeom prst="rect">
            <a:avLst/>
          </a:prstGeom>
        </p:spPr>
      </p:pic>
      <p:pic>
        <p:nvPicPr>
          <p:cNvPr id="19" name="Picture 18">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Tree>
    <p:extLst>
      <p:ext uri="{BB962C8B-B14F-4D97-AF65-F5344CB8AC3E}">
        <p14:creationId xmlns:p14="http://schemas.microsoft.com/office/powerpoint/2010/main" val="2239391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888DC9-EAFE-D59E-0863-1C8F70E452F2}"/>
              </a:ext>
            </a:extLst>
          </p:cNvPr>
          <p:cNvSpPr txBox="1"/>
          <p:nvPr/>
        </p:nvSpPr>
        <p:spPr>
          <a:xfrm>
            <a:off x="4050890" y="2413337"/>
            <a:ext cx="4090219" cy="1015663"/>
          </a:xfrm>
          <a:prstGeom prst="rect">
            <a:avLst/>
          </a:prstGeom>
          <a:noFill/>
        </p:spPr>
        <p:txBody>
          <a:bodyPr wrap="square" rtlCol="0">
            <a:spAutoFit/>
          </a:bodyPr>
          <a:lstStyle/>
          <a:p>
            <a:r>
              <a:rPr lang="en-IN" sz="6000" b="1" dirty="0">
                <a:latin typeface="Lucida Sans" panose="020B0602030504020204" pitchFamily="34" charset="0"/>
              </a:rPr>
              <a:t>Thankyou</a:t>
            </a:r>
          </a:p>
        </p:txBody>
      </p:sp>
    </p:spTree>
    <p:extLst>
      <p:ext uri="{BB962C8B-B14F-4D97-AF65-F5344CB8AC3E}">
        <p14:creationId xmlns:p14="http://schemas.microsoft.com/office/powerpoint/2010/main" val="169079201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409</TotalTime>
  <Words>480</Words>
  <Application>Microsoft Office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vt:lpstr>
      <vt:lpstr>Lucida Sans</vt:lpstr>
      <vt:lpstr>Tw Cen MT</vt:lpstr>
      <vt:lpstr>Droplet</vt:lpstr>
      <vt:lpstr>AI-Driven Course Popularity Analyzer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UI/UX Frame WORk</vt:lpstr>
      <vt:lpstr>GITHUB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ARULSANKARAN N</dc:creator>
  <cp:lastModifiedBy>Bharathees K</cp:lastModifiedBy>
  <cp:revision>5</cp:revision>
  <dcterms:created xsi:type="dcterms:W3CDTF">2026-02-11T03:59:07Z</dcterms:created>
  <dcterms:modified xsi:type="dcterms:W3CDTF">2026-02-12T06:01:41Z</dcterms:modified>
</cp:coreProperties>
</file>